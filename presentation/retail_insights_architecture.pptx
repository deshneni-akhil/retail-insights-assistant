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• Data overload:</a:t>
            </a:r>
            <a:r>
              <a:rPr sz="1600" b="0">
                <a:solidFill>
                  <a:srgbClr val="2D2D2D"/>
                </a:solidFill>
                <a:latin typeface="Calibri"/>
              </a:rPr>
              <a:t> users drown in data but lack SQL skills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• Analyst bottleneck:</a:t>
            </a:r>
            <a:r>
              <a:rPr sz="1600" b="0">
                <a:solidFill>
                  <a:srgbClr val="2D2D2D"/>
                </a:solidFill>
                <a:latin typeface="Calibri"/>
              </a:rPr>
              <a:t> manual reporting is slow &amp; expensive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• Delayed insights:</a:t>
            </a:r>
            <a:r>
              <a:rPr sz="1600" b="0">
                <a:solidFill>
                  <a:srgbClr val="2D2D2D"/>
                </a:solidFill>
                <a:latin typeface="Calibri"/>
              </a:rPr>
              <a:t> decisions wait days for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96596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F0F8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Q&amp;A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77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Ask in English, get answers</a:t>
            </a:r>
            <a:br/>
            <a:r>
              <a:t>with real numbers from your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38328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F0F8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456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Summary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94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One-click executive overview</a:t>
            </a:r>
            <a:br/>
            <a:r>
              <a:t>of all uploaded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80060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F0F8F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4873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Session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Each user's data is separate,</a:t>
            </a:r>
            <a:br/>
            <a:r>
              <a:t>persistent across restarts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Calibri"/>
              </a:defRPr>
            </a:pPr>
            <a:r>
              <a:t>What happens when a user asks a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31217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31217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Natural language</a:t>
            </a:r>
            <a:br/>
            <a:r>
              <a:t>input</a:t>
            </a:r>
          </a:p>
        </p:txBody>
      </p:sp>
      <p:sp>
        <p:nvSpPr>
          <p:cNvPr id="5" name="Chevron 4"/>
          <p:cNvSpPr/>
          <p:nvPr/>
        </p:nvSpPr>
        <p:spPr>
          <a:xfrm>
            <a:off x="1130655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8127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8127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Sanitize +</a:t>
            </a:r>
            <a:br/>
            <a:r>
              <a:t>cache check</a:t>
            </a:r>
          </a:p>
        </p:txBody>
      </p:sp>
      <p:sp>
        <p:nvSpPr>
          <p:cNvPr id="8" name="Chevron 7"/>
          <p:cNvSpPr/>
          <p:nvPr/>
        </p:nvSpPr>
        <p:spPr>
          <a:xfrm>
            <a:off x="2739999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87471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7471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Classify</a:t>
            </a:r>
            <a:br/>
            <a:r>
              <a:t>intent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349343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6815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6815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NL → DuckDB</a:t>
            </a:r>
            <a:br/>
            <a:r>
              <a:t>SQL</a:t>
            </a:r>
          </a:p>
        </p:txBody>
      </p:sp>
      <p:sp>
        <p:nvSpPr>
          <p:cNvPr id="14" name="Chevron 13"/>
          <p:cNvSpPr/>
          <p:nvPr/>
        </p:nvSpPr>
        <p:spPr>
          <a:xfrm>
            <a:off x="5958687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6159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6159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Run SQL</a:t>
            </a:r>
            <a:br/>
            <a:r>
              <a:t>safely</a:t>
            </a:r>
          </a:p>
        </p:txBody>
      </p:sp>
      <p:sp>
        <p:nvSpPr>
          <p:cNvPr id="17" name="Chevron 16"/>
          <p:cNvSpPr/>
          <p:nvPr/>
        </p:nvSpPr>
        <p:spPr>
          <a:xfrm>
            <a:off x="7568031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15503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5503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Stats + LLM</a:t>
            </a:r>
            <a:br/>
            <a:r>
              <a:t>check</a:t>
            </a:r>
          </a:p>
        </p:txBody>
      </p:sp>
      <p:sp>
        <p:nvSpPr>
          <p:cNvPr id="20" name="Chevron 19"/>
          <p:cNvSpPr/>
          <p:nvPr/>
        </p:nvSpPr>
        <p:spPr>
          <a:xfrm>
            <a:off x="9177375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24847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Enrich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847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RAG + fact</a:t>
            </a:r>
            <a:br/>
            <a:r>
              <a:t>extraction</a:t>
            </a:r>
          </a:p>
        </p:txBody>
      </p:sp>
      <p:sp>
        <p:nvSpPr>
          <p:cNvPr id="23" name="Chevron 22"/>
          <p:cNvSpPr/>
          <p:nvPr/>
        </p:nvSpPr>
        <p:spPr>
          <a:xfrm>
            <a:off x="10786719" y="2811780"/>
            <a:ext cx="274320" cy="27432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134191" y="256032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4191" y="34747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LLM → formatted</a:t>
            </a:r>
            <a:br/>
            <a:r>
              <a:t>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6C00"/>
                </a:solidFill>
                <a:latin typeface="Calibri"/>
              </a:defRPr>
            </a:pPr>
            <a:r>
              <a:t>↻  Validation failure triggers retry loop: failed SQL + error fed back to SQL generation (max 5 retries, then fallback)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617720"/>
            <a:ext cx="8534095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ounded Rectangle 13"/>
          <p:cNvSpPr/>
          <p:nvPr/>
        </p:nvSpPr>
        <p:spPr>
          <a:xfrm>
            <a:off x="6263640" y="3657600"/>
            <a:ext cx="5303520" cy="15544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303520" cy="15544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03520" cy="15544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5544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Plane — Storage &amp;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DuckDB  (SQL Engine)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Native CSV/JSON ingestion, zero-config SQL execution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No ETL overhead, no server setup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ChromaDB  (Vector Store)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Semantic search over Q&amp;A cache, docs, and table schemas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RAG + intelligent caching without external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Session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File-backed DB + vectors per user session, isolated data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Multi-user isolation, no shared state corruption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Auto-parses CSV, Excel, JSON, PDF with type inference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Users upload raw files, no manual schema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8092440" y="3749039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3749039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3749039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37160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Control Plane — Intelligence &amp;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37160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Intent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136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LLM classifies: question, summary, or clarification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Different query types need different execution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NL-to-SQL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0136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Converts English to DuckDB SQL with schema-aware prompts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Business users can't write SQL; LLM bridges the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Validation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0136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Statistical pre-checks + LLM semantic validation + retry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Catches wrong or empty results before user sees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749039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Fact Extractor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788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Pure Python: extracts verifiable numbers (zero LLM cost)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Prevents hallucinated numbers in LLM responses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749039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Preprocess + 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1788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Input sanitization + semantic Q&amp;A cache lookup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Repeated questions skip full pipeline, saving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749039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Schema 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78807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Semantic search picks relevant tables from many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Prevents context overflow with large databases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Example Query Pipeline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0E0E0"/>
                </a:solidFill>
                <a:latin typeface="Calibri"/>
              </a:defRPr>
            </a:pPr>
            <a:r>
              <a:t>"Which category had the highest revenue?"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325880"/>
            <a:ext cx="822960" cy="3657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8686800" cy="36576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90D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83080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Classifies as "question" → routes to Q&amp;A 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20188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8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6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NL-to-SQL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32888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32888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SELECT category, SUM(amount) AS total_revenue
FROM amazon_sales WHERE status != 'CANCELLED'
GROUP BY category ORDER BY total_revenue DESC LIMIT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69996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82696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3E6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82696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282696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DuckDB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282696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Executes SQL → returns: SET (28.7M), KURTA (22.8M), WESTERN DRESS (9.2M)...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19804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32504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032504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Stats+LLM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32504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Non-empty results, has revenue column, numbers reasonable → 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69612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82312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6C0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82312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Fact Extractor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782312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782312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VERIFIED FACTS: category=SET, total_revenue=28,744,012 | category=KURTA, total_revenue=22,831,455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19420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532120"/>
            <a:ext cx="3657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2801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532120"/>
            <a:ext cx="82296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D2D2D"/>
                </a:solidFill>
                <a:latin typeface="Calibri"/>
              </a:rPr>
              <a:t>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532120"/>
            <a:ext cx="8686800" cy="749808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alibri"/>
              </a:rPr>
              <a:t>"SET had the highest revenue at ₹28.7M, followed by KURTA at ₹22.8M..."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269228"/>
            <a:ext cx="1115568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73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→ Q&amp;A pair stored in ChromaDB for future cache hits and fallback retrieval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LLM Integration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WHERE LLM IS USED  (4 nodes)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Router:</a:t>
            </a:r>
            <a:r>
              <a:rPr sz="1400" b="0">
                <a:solidFill>
                  <a:srgbClr val="2D2D2D"/>
                </a:solidFill>
                <a:latin typeface="Calibri"/>
              </a:rPr>
              <a:t> classifies intent (1 lightweight call)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NL-to-SQL:</a:t>
            </a:r>
            <a:r>
              <a:rPr sz="1400" b="0">
                <a:solidFill>
                  <a:srgbClr val="2D2D2D"/>
                </a:solidFill>
                <a:latin typeface="Calibri"/>
              </a:rPr>
              <a:t> generates DuckDB SQL from schema + question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Validation:</a:t>
            </a:r>
            <a:r>
              <a:rPr sz="1400" b="0">
                <a:solidFill>
                  <a:srgbClr val="2D2D2D"/>
                </a:solidFill>
                <a:latin typeface="Calibri"/>
              </a:rPr>
              <a:t> semantic check — do results answer the question?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Response:</a:t>
            </a:r>
            <a:r>
              <a:rPr sz="1400" b="0">
                <a:solidFill>
                  <a:srgbClr val="2D2D2D"/>
                </a:solidFill>
                <a:latin typeface="Calibri"/>
              </a:rPr>
              <a:t> formats answer constrained to verified 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WHERE LLM IS NOT USED  (saves cost)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Preprocess:</a:t>
            </a:r>
            <a:r>
              <a:rPr sz="1400" b="0">
                <a:solidFill>
                  <a:srgbClr val="2D2D2D"/>
                </a:solidFill>
                <a:latin typeface="Calibri"/>
              </a:rPr>
              <a:t> Python sanitization + ChromaDB cache lookup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Extraction:</a:t>
            </a:r>
            <a:r>
              <a:rPr sz="1400" b="0">
                <a:solidFill>
                  <a:srgbClr val="2D2D2D"/>
                </a:solidFill>
                <a:latin typeface="Calibri"/>
              </a:rPr>
              <a:t> DuckDB SQL execution with safety whitelist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Fact Extractor:</a:t>
            </a:r>
            <a:r>
              <a:rPr sz="1400" b="0">
                <a:solidFill>
                  <a:srgbClr val="2D2D2D"/>
                </a:solidFill>
                <a:latin typeface="Calibri"/>
              </a:rPr>
              <a:t> pure Python number extraction (zero LLM)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Schema Selector:</a:t>
            </a:r>
            <a:r>
              <a:rPr sz="1400" b="0">
                <a:solidFill>
                  <a:srgbClr val="2D2D2D"/>
                </a:solidFill>
                <a:latin typeface="Calibri"/>
              </a:rPr>
              <a:t> ChromaDB semantic search (embedding 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8 prompt templates in src/prompts/ (version-controlled)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Temperature 0.1 — deterministic, factual outputs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NL-to-SQL: schema + 10 rules + conversation context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Response: constrained to VERIFIED FACTS only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Validation: structured JSON output (valid/confidence/feedback)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ANTI-HALLUCINATION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3891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Fact Extractor pulls verifiable numbers from query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Response prompt: "ONLY use VERIFIED FACTS — do not invent"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Validation agent catches fabricated or unreasonable numbers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• Retry loop feeds failed SQL + error back for self-correction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126480"/>
            <a:ext cx="9448495" cy="457200"/>
          </a:xfrm>
          <a:prstGeom prst="roundRect">
            <a:avLst>
              <a:gd name="adj" fmla="val 20000"/>
            </a:avLst>
          </a:prstGeom>
          <a:solidFill>
            <a:srgbClr val="E8EDF5"/>
          </a:solidFill>
          <a:ln w="127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C3E6B"/>
                </a:solidFill>
                <a:latin typeface="Calibri"/>
              </a:rPr>
              <a:t>OpenAI-compatible API — provider-agnostic: Azure AI Foundry, Groq, Ollama, local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to Optimize: Latency, Accuracy,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50292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⏱ 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Query caching — instant for repeat Qs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Parallel retrieval during SQL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Materialized views for aggregations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Smaller models for simple lookups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50292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✔ 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Fact extraction grounds LLM to real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Retry loop feeds failed SQL back to LLM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Statistical pre-checks catch anomalies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RAG enriches answers with past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50292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💰 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031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Schema filtering reduces prompt tokens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Model routing: cheap models for easy Qs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Redis cache skips warehouse + LLM calls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2D2D2D"/>
                </a:solidFill>
                <a:latin typeface="Calibri"/>
              </a:rPr>
              <a:t>• Materialized views: 10–100x savings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ounded Rectangle 11"/>
          <p:cNvSpPr/>
          <p:nvPr/>
        </p:nvSpPr>
        <p:spPr>
          <a:xfrm>
            <a:off x="8092440" y="178308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78308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783080"/>
            <a:ext cx="3566160" cy="152704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Scaling to 100GB+ — What Breaks &amp; What Changes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⚠  CURRENT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78308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DuckDB (in-process)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12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Single machine, loads data into memory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Limit: ~10–50 GB before OOM or slow scans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78308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ChromaDB (local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212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No replication, single-node embedding index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Limit: ~1M vectors, no horizontal scaling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83080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 Upload → 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✓ </a:t>
            </a:r>
            <a:r>
              <a:rPr sz="1300">
                <a:solidFill>
                  <a:srgbClr val="2D2D2D"/>
                </a:solidFill>
                <a:latin typeface="Calibri"/>
              </a:rPr>
              <a:t>Loads entire file into RAM for ingestion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⚡ </a:t>
            </a:r>
            <a:r>
              <a:rPr sz="1300">
                <a:solidFill>
                  <a:srgbClr val="666666"/>
                </a:solidFill>
                <a:latin typeface="Calibri"/>
              </a:rPr>
              <a:t>Limit: ~1 GB files before memory exhaustion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✓  ONLY THE DATA PLANE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DuckDB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86200" y="4549140"/>
            <a:ext cx="7315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443484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BigQuery / Snowflake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Swap connection string in db.py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01768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ChromaDB (local)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86200" y="5116068"/>
            <a:ext cx="7315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5001768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Pinecone / Weaviate (managed)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474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Swap vectorstore.py 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68696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FDEDED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File Upload → Pandas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886200" y="5682996"/>
            <a:ext cx="731520" cy="2286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5568696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2D2D2D"/>
                </a:solidFill>
                <a:latin typeface="Calibri"/>
              </a:defRPr>
            </a:pPr>
            <a:r>
              <a:t>S3 + Apache Spark → Parquet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6144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New ingestion pipeline (separate service)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6126480"/>
            <a:ext cx="9448495" cy="50292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2D2D2D"/>
                </a:solidFill>
                <a:latin typeface="Calibri"/>
              </a:rPr>
              <a:t>Control plane (agents, prompts, LangGraph) stays </a:t>
            </a:r>
            <a:r>
              <a:rPr sz="1600" b="1">
                <a:solidFill>
                  <a:srgbClr val="27AE60"/>
                </a:solidFill>
                <a:latin typeface="Calibri"/>
              </a:rPr>
              <a:t>UNCHANGED</a:t>
            </a:r>
            <a:r>
              <a:rPr sz="1600">
                <a:solidFill>
                  <a:srgbClr val="2D2D2D"/>
                </a:solidFill>
                <a:latin typeface="Calibri"/>
              </a:rPr>
              <a:t> — zero code changes to any agent or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Scaled Architecture — The Production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DATA INGESTION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9799" y="15087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Raw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799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CSV, Excel,</a:t>
            </a:r>
            <a:br/>
            <a:r>
              <a:t>JSON, PDF</a:t>
            </a:r>
          </a:p>
        </p:txBody>
      </p:sp>
      <p:sp>
        <p:nvSpPr>
          <p:cNvPr id="6" name="Chevron 5"/>
          <p:cNvSpPr/>
          <p:nvPr/>
        </p:nvSpPr>
        <p:spPr>
          <a:xfrm>
            <a:off x="2858871" y="173736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6343" y="15087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 Landing</a:t>
            </a:r>
            <a:br/>
            <a:r>
              <a:t>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6343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Cloud object</a:t>
            </a:r>
            <a:br/>
            <a:r>
              <a:t>storage</a:t>
            </a:r>
          </a:p>
        </p:txBody>
      </p:sp>
      <p:sp>
        <p:nvSpPr>
          <p:cNvPr id="9" name="Chevron 8"/>
          <p:cNvSpPr/>
          <p:nvPr/>
        </p:nvSpPr>
        <p:spPr>
          <a:xfrm>
            <a:off x="4925415" y="173736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72887" y="15087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Apache</a:t>
            </a:r>
            <a:br/>
            <a:r>
              <a:t>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2887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Clean, transform,</a:t>
            </a:r>
            <a:br/>
            <a:r>
              <a:t>partition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991959" y="173736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9431" y="15087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Parquet</a:t>
            </a:r>
            <a:br/>
            <a:r>
              <a:t>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9431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Columnar,</a:t>
            </a:r>
            <a:br/>
            <a:r>
              <a:t>compressed</a:t>
            </a:r>
          </a:p>
        </p:txBody>
      </p:sp>
      <p:sp>
        <p:nvSpPr>
          <p:cNvPr id="15" name="Chevron 14"/>
          <p:cNvSpPr/>
          <p:nvPr/>
        </p:nvSpPr>
        <p:spPr>
          <a:xfrm>
            <a:off x="9058503" y="173736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05975" y="15087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5975" y="2267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Serverless data</a:t>
            </a:r>
            <a:br/>
            <a:r>
              <a:t>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QUERY PIPELINE  (our application — unchanged)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1551" y="32918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1551" y="4005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Natural language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3526383" y="349758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73855" y="32918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2C3E6B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  <a:br/>
            <a: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3855" y="4005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Route → NL2SQL →</a:t>
            </a:r>
            <a:br/>
            <a:r>
              <a:t>Validate → Respond</a:t>
            </a:r>
          </a:p>
        </p:txBody>
      </p:sp>
      <p:sp>
        <p:nvSpPr>
          <p:cNvPr id="24" name="Chevron 23"/>
          <p:cNvSpPr/>
          <p:nvPr/>
        </p:nvSpPr>
        <p:spPr>
          <a:xfrm>
            <a:off x="5958687" y="349758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6159" y="32918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6159" y="4005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Execute SQL</a:t>
            </a:r>
            <a:br/>
            <a:r>
              <a:t>(same syntax)</a:t>
            </a:r>
          </a:p>
        </p:txBody>
      </p:sp>
      <p:sp>
        <p:nvSpPr>
          <p:cNvPr id="27" name="Chevron 26"/>
          <p:cNvSpPr/>
          <p:nvPr/>
        </p:nvSpPr>
        <p:spPr>
          <a:xfrm>
            <a:off x="8390991" y="3497580"/>
            <a:ext cx="274320" cy="228600"/>
          </a:xfrm>
          <a:prstGeom prst="chevron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38463" y="329184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Verified</a:t>
            </a:r>
            <a:br/>
            <a: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8463" y="4005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Fact-checked</a:t>
            </a:r>
            <a:br/>
            <a: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PERFORMANCE LAYER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Materialized 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5321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Pre-compute common aggregations in BigQuery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Dashboard queries: seconds → milliseconds (10–100x)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Scheduled refresh — always up to 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07492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Redis Query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5321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Semantic cache for NL questions (ChromaDB embeddings)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Expect 60–80% cache hit rate for repeat Qs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2D2D2D"/>
                </a:solidFill>
                <a:latin typeface="Calibri"/>
              </a:rPr>
              <a:t>• Skips BigQuery + LLM entirely — instant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 Stack &amp; Design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L="9144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 marL="9144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This (Trade-off)</a:t>
                      </a:r>
                    </a:p>
                  </a:txBody>
                  <a:tcPr anchor="ctr" marL="91440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Explicit state machine, auditable retries (vs ReAct: deterministic)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SQL Engine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DuckDB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Zero-config, SQL matches BigQuery (scales without rewrite)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Vector DB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ChromaDB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Embedded, no external dependency (scales to Pinecone)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OpenAI-compatible API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Provider-agnostic: Azure, Groq, Ollama, local models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Rapid prototyping, built-in chat (great for MVP)</a:t>
                      </a:r>
                    </a:p>
                  </a:txBody>
                  <a:tcPr anchor="ctr" marL="91440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Observability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LangSmith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Traces every LLM call + agent node automatically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0" y="4754880"/>
            <a:ext cx="6705295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Retail Insights Assistant  •  Multi-Agent Architecture  •  LangGraph + DuckDB + ChromaDB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